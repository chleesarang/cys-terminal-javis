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설교 전 봉독" id="{b0d8143d-9677-5580-4323-4e3d6bba44c5}">
          <p14:sldIdLst>
            <p14:sldId id="256"/>
            <p14:sldId id="257"/>
            <p14:sldId id="258"/>
            <p14:sldId id="259"/>
            <p14:sldId id="260"/>
          </p14:sldIdLst>
        </p14:section>
        <p14:section name="인사" id="{7cc3405c-c992-6ca3-b89b-1bffdbcf936e}">
          <p14:sldIdLst>
            <p14:sldId id="261"/>
          </p14:sldIdLst>
        </p14:section>
        <p14:section name="대지 1" id="{45cddd9d-9a0a-9f9d-63d7-08792fab721f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대지 2" id="{5bb2eee4-e1af-8624-7184-882b76b3fac8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대지 3" id="{2e496dc5-fab9-caf6-84eb-55e16aa487ab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결론" id="{a19bdd0c-d34d-4be2-8768-dd119f7fe601}">
          <p14:sldIdLst>
            <p14:sldId id="292"/>
            <p14:sldId id="293"/>
            <p14:sldId id="294"/>
            <p14:sldId id="295"/>
            <p14:sldId id="296"/>
          </p14:sldIdLst>
        </p14:section>
        <p14:section name="예비 명언 (숨김)" id="{8a76bedc-e8d3-1045-6fa4-77fc6f04c925}">
          <p14:sldIdLst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[예배 순서 · 성경 봉독 직전] 이 표지를 띄워 두었다가, 봉독이 시작되면 다음 장(1:19)으로 넘깁니다. 설교 전에는 룻기 1:19–22만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[설교 전 봉독] 한 절씩 넘깁니다.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[설교 전 봉독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[설교 전 봉독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[설교 전 봉독 끝] 설교자가 강단에 서면 다음 장(피자)은 아직 띄우지 말고, 이 화면이나 표지를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[인사] 설교자가 "먹는 피자는 아닙니다 … 따라 해 주십시오" 할 때 띄웁니다. "피자입니다" 하는 순간에는 아직 띄우지 마십시오 — 웃음이 먼저입니다. 서론이 시작되면 화면을 내립니다(검은 화면 또는 표지).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시작] 설교자가 "나오미는 어디서 왔고, 왜 모압으로 갔을까요?" 할 때 띄웁니다. 나씨 조크와 「세 번의 장례」 첫머리 동안 그대로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세 번의 장례] 설교자: "그 가족에게 무슨 일이 있었는지, 1장 1절부터 5절까지 다 함께 읽겠습니다". 1–5절을 한 절씩 넘깁니다.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1:1–5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1:1–5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1:1–5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1:1–5 끝] 설교자가 "살려고 떠나는 것입니다 … 식탁에 빈 의자가 셋" 하는 동안 이 화면을 둡니다. 예화 ①이 시작되면 화면을 내립니다.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나를 마라라 부르라] 설교자: "그때 나오미가 무엇이라 대답했는지, 20절과 21절을 다 함께 읽겠습니다".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1:20–21 계속] 설교자가 '마라'와 '비어'(레캄)를 설명하는 동안 이 화면을 둡니다. 예화 ②가 시작되면 화면을 내립니다.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마침표와 쉼표 뒤] 설교자: "1장 6절을 다 함께 읽겠습니다".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눈물을 담는 병] 설교자: "다윗도 쫓겨 다니던 날에 이렇게 기도했습니다. 다 함께".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★명언] 설교자가 "평생 우울증과 싸운 시인 윌리엄 쿠퍼는…" 할 때 띄웁니다. 합독하지 않습니다. 나오미 심방 기도가 시작되면 화면을 내립니다.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시작] 설교자가 "대지 1의 끝에서 보았지요" 할 때 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첫째 손] 설교자: "룻은 시어머니를 붙들고 이렇게 고백합니다. 다 함께 읽겠습니다". 시금치 문답 동안 그대로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둘째 손] 설교자: "2장 20절, 다 함께".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외모가 아니라 중심을] 하반절만. 다 읽은 뒤 배꼽티 조크와 옆자리 인사 — 화면은 그대로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★명언] 설교자가 "C.S. 루이스는 이렇게 설교했습니다" 할 때 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빈손으로 가지 말라] 설교자: "3장 17절, 다 함께 천천히". 읽은 뒤 2초 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레캄] 설교자가 "1장의 '비어'와 똑같은 한 단어, 레캄입니다" 할 때 띄웁니다. 합독하지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하나님의 단어] 설교자: "애굽을 떠날 때, 하나님이 약속하셨습니다. 다 함께".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셋째 손] 설교자: "아파 본 사람이, 아픈 사람 곁에 있을 수 있습니다. 다 함께". 호소 기도가 시작되면 화면을 내립니다.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시작] 설교자가 "그것이 무엇인지, 4장을 펴십시오" 할 때 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첫머리] 설교자: "4장 13절부터 15절입니다". 13–15절을 한 절씩 넘깁니다.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4:13–15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4:13–15 끝] 설교자가 13절과 15절을 설명하는 동안 이 화면을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빈손이 요람이 되었습니다] 설교자: "그리고 16절입니다. 다 함께". 설교의 정서적 절정 — 읽은 뒤 길게 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나오미를 품으신 하나님] 설교자: "누가 나오미를 품고 있었습니까? 다 함께".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믿음의 유산이 이른 곳] 설교자: "그리고 17절, 다 함께".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마태복음] 설교자: "여기서 멈추지 않습니다. 다 함께".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마태복음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그러므로] 설교자: "바울의 고백을 다 함께 읽겠습니다". 구호 기도가 시작되면 화면을 내립니다.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[결론 시작] 설교자가 "오늘 처음에 피자 선물을 드렸지요" 할 때 띄웁니다. 예화 ④ 동안 그대로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[결론 · 이민을 두 번 가는 사람들] 설교자: "히브리서는 믿음의 선배들을 이렇게 불렀습니다. 다 함께".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[결론 · 히브리서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[결론 · 이민 두 번 피크 뒤] 설교자: "예수님께서 그 집에 대해 말씀하셨습니다. 다 함께".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[결론 · 요한복음 끝] 예화 ⑤(알렉산더 — 화면 없음)와 마지막 단락, 마침 기도까지 이 화면을 띄워 두어도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[예비 명언 · 숨김 슬라이드] 설교자가 시간이 남아 이 명언을 쓸 때만 띄웁니다. 슬라이드 쇼에서는 건너뜁니다 — 쓰시려면 이 슬라이드를 직접 선택하십시오.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[예비 명언 · 숨김 슬라이드] 설교자가 시간이 남아 이 명언을 쓸 때만 띄웁니다. 슬라이드 쇼에서는 건너뜁니다 — 쓰시려면 이 슬라이드를 직접 선택하십시오.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[예비 명언 · 숨김 슬라이드] 설교자가 시간이 남아 이 명언을 쓸 때만 띄웁니다. 슬라이드 쇼에서는 건너뜁니다 — 쓰시려면 이 슬라이드를 직접 선택하십시오.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[예비 명언 · 숨김 슬라이드] 설교자가 시간이 남아 이 명언을 쓸 때만 띄웁니다. 슬라이드 쇼에서는 건너뜁니다 — 쓰시려면 이 슬라이드를 직접 선택하십시오.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[예비 명언 · 숨김 슬라이드] 설교자가 시간이 남아 이 명언을 쓸 때만 띄웁니다. 슬라이드 쇼에서는 건너뜁니다 — 쓰시려면 이 슬라이드를 직접 선택하십시오.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[예비 명언 · 숨김 슬라이드] 설교자가 시간이 남아 이 명언을 쓸 때만 띄웁니다. 슬라이드 쇼에서는 건너뜁니다 — 쓰시려면 이 슬라이드를 직접 선택하십시오.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[예비 명언 · 숨김 슬라이드] 설교자가 시간이 남아 이 명언을 쓸 때만 띄웁니다. 슬라이드 쇼에서는 건너뜁니다 — 쓰시려면 이 슬라이드를 직접 선택하십시오.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[예비 명언 · 숨김 슬라이드] 설교자가 시간이 남아 이 명언을 쓸 때만 띄웁니다. 슬라이드 쇼에서는 건너뜁니다 — 쓰시려면 이 슬라이드를 직접 선택하십시오.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[예비 명언 · 숨김 슬라이드] 설교자가 시간이 남아 이 명언을 쓸 때만 띄웁니다. 슬라이드 쇼에서는 건너뜁니다 — 쓰시려면 이 슬라이드를 직접 선택하십시오.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328" y="96012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697480"/>
            <a:ext cx="1082009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977640"/>
            <a:ext cx="108200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91440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2148840"/>
            <a:ext cx="108200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880360"/>
            <a:ext cx="10820095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IPTU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12064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12064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85800" y="2697480"/>
            <a:ext cx="10820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빈손 같은 인생, 채우시는 하나님</a:t>
            </a:r>
            <a:endParaRPr lang="en-US" sz="5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397764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1"/>
                </a:solidFill>
              </a:rPr>
              <a:t>룻기 1:19–22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1:19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19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이에 그 두 사람이 베들레헴까지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갔더라 베들레헴에 이를 때에 온 성읍이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그들로 말미암아 떠들며 이르기를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이이가 나오미냐 하는지라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1:20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20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나오미가 그들에게 이르되 나를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나오미라 부르지 말고 나를 마라라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부르라 이는 전능자가 나를 심히 괴롭게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하셨음이니라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1:21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21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내가 풍족하게 나갔더니 여호와께서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내게 비어 돌아오게 하셨느니라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여호와께서 나를 징벌하셨고 전능자가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나를 괴롭게 하셨거늘 너희가 어찌 나를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나오미라 부르느냐 하니라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1:22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22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나오미가 모압 지방에서 그의 며느리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모압 여인 룻과 함께 돌아왔는데 그들이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보리 추수 시작할 때에 베들레헴에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이르렀더라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피자 한 판, 다섯 조각</a:t>
            </a:r>
            <a:endParaRPr lang="en-US" sz="2400" dirty="0"/>
          </a:p>
        </p:txBody>
      </p:sp>
      <p:sp>
        <p:nvSpPr>
          <p:cNvPr id="3" name="pizza-five"/>
          <p:cNvSpPr txBox="1"/>
          <p:nvPr/>
        </p:nvSpPr>
        <p:spPr>
          <a:xfrm>
            <a:off x="685800" y="1188720"/>
            <a:ext cx="10820095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chemeClr val="bg1"/>
                </a:solidFill>
              </a:rPr>
              <a:t>얼굴 </a:t>
            </a:r>
            <a:pPr algn="ctr"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chemeClr val="accent1"/>
                </a:solidFill>
              </a:rPr>
              <a:t>피자!</a:t>
            </a:r>
            <a:endParaRPr lang="en-US" sz="4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chemeClr val="bg1"/>
                </a:solidFill>
              </a:rPr>
              <a:t>어깨 </a:t>
            </a:r>
            <a:pPr algn="ctr"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chemeClr val="accent1"/>
                </a:solidFill>
              </a:rPr>
              <a:t>피자!</a:t>
            </a:r>
            <a:endParaRPr lang="en-US" sz="4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chemeClr val="bg1"/>
                </a:solidFill>
              </a:rPr>
              <a:t>허리 </a:t>
            </a:r>
            <a:pPr algn="ctr"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chemeClr val="accent1"/>
                </a:solidFill>
              </a:rPr>
              <a:t>피자!</a:t>
            </a:r>
            <a:endParaRPr lang="en-US" sz="4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chemeClr val="bg1"/>
                </a:solidFill>
              </a:rPr>
              <a:t>살림 </a:t>
            </a:r>
            <a:pPr algn="ctr"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chemeClr val="accent1"/>
                </a:solidFill>
              </a:rPr>
              <a:t>피자!</a:t>
            </a:r>
            <a:endParaRPr lang="en-US" sz="4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5000" b="1" dirty="0">
                <a:solidFill>
                  <a:schemeClr val="accent1"/>
                </a:solidFill>
              </a:rPr>
              <a:t>믿음 </a:t>
            </a:r>
            <a:pPr algn="ctr" indent="0" marL="0">
              <a:lnSpc>
                <a:spcPct val="118000"/>
              </a:lnSpc>
              <a:buNone/>
            </a:pPr>
            <a:r>
              <a:rPr lang="en-US" sz="5000" b="1" dirty="0">
                <a:solidFill>
                  <a:schemeClr val="accent1"/>
                </a:solidFill>
              </a:rPr>
              <a:t>피자!</a:t>
            </a:r>
            <a:endParaRPr lang="en-US" sz="4200" dirty="0"/>
          </a:p>
        </p:txBody>
      </p:sp>
      <p:sp>
        <p:nvSpPr>
          <p:cNvPr id="4" name="pizza-blessing"/>
          <p:cNvSpPr txBox="1"/>
          <p:nvPr/>
        </p:nvSpPr>
        <p:spPr>
          <a:xfrm>
            <a:off x="685800" y="548640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인생도 믿음도 활짝 펴시기 바랍니다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21488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대지 1</a:t>
            </a:r>
            <a:endParaRPr lang="en-US" sz="26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2880360"/>
            <a:ext cx="108200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빈손처럼 느껴지는 날에도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하나님은 우리를 돌보고 계십니다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1:1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사사들이 치리하던 때에 그 땅에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흉년이 드니라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유다 베들레헴에 한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사람이 그의 아내와 두 아들을 데리고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모압 지방에 가서 거류하였는데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1:2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2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 사람의 이름은 엘리멜렉이요 그의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아내의 이름은 나오미요 그의 두 아들의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이름은 말론과 기룐이니 유다 베들레헴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에브랏 사람들이더라 그들이 모압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지방에 들어가서 거기 살더니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1:3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3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나오미의 남편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엘리멜렉이 죽고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나오미와 그의 두 아들이 남았으며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1:4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4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그들은 모압 여자 중에서 그들의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아내를 맞이하였는데 하나의 이름은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오르바요 하나의 이름은 룻이더라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그들이 거기에 거주한 지 십 년쯤에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1:5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5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말론과 기룐 두 사람이 다 죽고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그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여인은 두 아들과 남편의 뒤에 남았더라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1:20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20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나오미가 그들에게 이르되 나를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나오미라 부르지 말고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나를 마라라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부르라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이는 전능자가 나를 심히 괴롭게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하셨음이니라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1:21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21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내가 풍족하게 나갔더니 여호와께서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내게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비어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돌아오게 하셨느니라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여호와께서 나를 징벌하셨고 전능자가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나를 괴롭게 하셨거늘 너희가 어찌 나를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나오미라 부르느냐 하니라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1:6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6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 여인이 모압 지방에서 여호와께서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자기 백성을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돌보시사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그들에게 양식을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주셨다 함을 듣고 이에 두 며느리와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함께 일어나 모압 지방에서 돌아오려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하여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시편 56:8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8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나의 유리함을 주께서 계수하셨사오니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나의 눈물을 주의 병에 담으소서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이것이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주의 책에 기록되지 아니하였나이까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윌리엄 쿠퍼</a:t>
            </a:r>
            <a:endParaRPr lang="en-US" sz="2400" dirty="0"/>
          </a:p>
        </p:txBody>
      </p:sp>
      <p:sp>
        <p:nvSpPr>
          <p:cNvPr id="3" name="quote-ko"/>
          <p:cNvSpPr txBox="1"/>
          <p:nvPr/>
        </p:nvSpPr>
        <p:spPr>
          <a:xfrm>
            <a:off x="685800" y="1234440"/>
            <a:ext cx="10820095" cy="20777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연약한 감각으로 주님을 판단하지 말고,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그분의 은혜를 신뢰하라.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800" b="1" dirty="0">
                <a:solidFill>
                  <a:schemeClr val="accent1"/>
                </a:solidFill>
              </a:rPr>
              <a:t>찌푸린 섭리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뒤에,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그분은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800" b="1" dirty="0">
                <a:solidFill>
                  <a:schemeClr val="accent1"/>
                </a:solidFill>
              </a:rPr>
              <a:t>웃는 얼굴을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감추고 계신다.</a:t>
            </a:r>
            <a:endParaRPr lang="en-US" sz="3800" dirty="0"/>
          </a:p>
        </p:txBody>
      </p:sp>
      <p:sp>
        <p:nvSpPr>
          <p:cNvPr id="4" name="quote-en-card"/>
          <p:cNvSpPr/>
          <p:nvPr/>
        </p:nvSpPr>
        <p:spPr>
          <a:xfrm>
            <a:off x="685800" y="3495040"/>
            <a:ext cx="10820095" cy="1991360"/>
          </a:xfrm>
          <a:prstGeom prst="roundRect">
            <a:avLst>
              <a:gd name="adj" fmla="val 36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quote-en"/>
          <p:cNvSpPr txBox="1"/>
          <p:nvPr/>
        </p:nvSpPr>
        <p:spPr>
          <a:xfrm>
            <a:off x="960120" y="3540760"/>
            <a:ext cx="10271455" cy="1899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not the Lord by feeble sense,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trust Him for His grace;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a 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frowning providence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hides a 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smiling face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500" dirty="0"/>
          </a:p>
        </p:txBody>
      </p:sp>
      <p:sp>
        <p:nvSpPr>
          <p:cNvPr id="6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윌리엄 쿠퍼 · 찬송시 「하나님은 신비롭게 일하시네」 (1773)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21488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대지 2</a:t>
            </a:r>
            <a:endParaRPr lang="en-US" sz="26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2880360"/>
            <a:ext cx="108200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하나님은 가까운 사람의 사랑으로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우리의 빈손을 채우십니다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1:16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chemeClr val="accent2"/>
                </a:solidFill>
              </a:rPr>
              <a:t>16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600" dirty="0">
                <a:solidFill>
                  <a:schemeClr val="bg1"/>
                </a:solidFill>
              </a:rPr>
              <a:t>룻이 이르되 내게 어머니를 떠나며 어머니를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600" dirty="0">
                <a:solidFill>
                  <a:schemeClr val="bg1"/>
                </a:solidFill>
              </a:rPr>
              <a:t>따르지 말고 돌아가라 강권하지 마옵소서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600" dirty="0">
                <a:solidFill>
                  <a:schemeClr val="bg1"/>
                </a:solidFill>
              </a:rPr>
              <a:t>어머니께서 가시는 곳에 나도 가고 어머니께서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600" dirty="0">
                <a:solidFill>
                  <a:schemeClr val="bg1"/>
                </a:solidFill>
              </a:rPr>
              <a:t>머무시는 곳에서 나도 머물겠나이다 어머니의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600" dirty="0">
                <a:solidFill>
                  <a:schemeClr val="bg1"/>
                </a:solidFill>
              </a:rPr>
              <a:t>백성이 나의 백성이 되고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600" b="1" dirty="0">
                <a:solidFill>
                  <a:schemeClr val="accent1"/>
                </a:solidFill>
              </a:rPr>
              <a:t>어머니의 하나님이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600" b="1" dirty="0">
                <a:solidFill>
                  <a:schemeClr val="accent1"/>
                </a:solidFill>
              </a:rPr>
              <a:t>나의 하나님이 되시리니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2:20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100" b="1" dirty="0">
                <a:solidFill>
                  <a:schemeClr val="accent2"/>
                </a:solidFill>
              </a:rPr>
              <a:t>20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나오미가 그에게 이르되 그가 여호와로부터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복 받기를 원하노라 그가 살아 있는 자와 죽은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자에게 은혜 베푸는 것을 그치지 아니하도다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하고 나오미가 또 그에게 이르되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800" b="1" dirty="0">
                <a:solidFill>
                  <a:schemeClr val="accent1"/>
                </a:solidFill>
              </a:rPr>
              <a:t>그 사람은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b="1" dirty="0">
                <a:solidFill>
                  <a:schemeClr val="accent1"/>
                </a:solidFill>
              </a:rPr>
              <a:t>우리와 가까우니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우리 기업을 무를 자 중의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하나이니라 하였더라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사무엘상 16:7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7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사람은 외모를 보거니와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나 여호와는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중심을 보느니라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C.S. 루이스</a:t>
            </a:r>
            <a:endParaRPr lang="en-US" sz="2400" dirty="0"/>
          </a:p>
        </p:txBody>
      </p:sp>
      <p:sp>
        <p:nvSpPr>
          <p:cNvPr id="3" name="quote-ko"/>
          <p:cNvSpPr txBox="1"/>
          <p:nvPr/>
        </p:nvSpPr>
        <p:spPr>
          <a:xfrm>
            <a:off x="685800" y="1234440"/>
            <a:ext cx="10820095" cy="27929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평범한 사람이란 없습니다.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여러분은 단 한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번도, 그저 죽고 마는 존재와 이야기해 본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적이 없습니다.</a:t>
            </a:r>
            <a:endParaRPr lang="en-US" sz="4000" dirty="0"/>
          </a:p>
        </p:txBody>
      </p:sp>
      <p:sp>
        <p:nvSpPr>
          <p:cNvPr id="4" name="quote-en-card"/>
          <p:cNvSpPr/>
          <p:nvPr/>
        </p:nvSpPr>
        <p:spPr>
          <a:xfrm>
            <a:off x="685800" y="4210304"/>
            <a:ext cx="10820095" cy="1276096"/>
          </a:xfrm>
          <a:prstGeom prst="roundRect">
            <a:avLst>
              <a:gd name="adj" fmla="val 57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quote-en"/>
          <p:cNvSpPr txBox="1"/>
          <p:nvPr/>
        </p:nvSpPr>
        <p:spPr>
          <a:xfrm>
            <a:off x="960120" y="4256024"/>
            <a:ext cx="10271455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are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ordinary people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You have never talked to a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mere mortal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800" dirty="0"/>
          </a:p>
        </p:txBody>
      </p:sp>
      <p:sp>
        <p:nvSpPr>
          <p:cNvPr id="6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C.S. 루이스 · 설교 「영광의 무게」 (1941)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3:17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17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이르되 그가 내게 이 보리를 여섯 번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되어 주며 이르기를 네 시어머니에게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빈손으로 가지 말라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하였느니라 하니라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레캄</a:t>
            </a:r>
            <a:endParaRPr lang="en-US" sz="2400" dirty="0"/>
          </a:p>
        </p:txBody>
      </p:sp>
      <p:sp>
        <p:nvSpPr>
          <p:cNvPr id="3" name="reqam-hebrew"/>
          <p:cNvSpPr txBox="1"/>
          <p:nvPr/>
        </p:nvSpPr>
        <p:spPr>
          <a:xfrm>
            <a:off x="685800" y="1325880"/>
            <a:ext cx="108200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רֵיקָם</a:t>
            </a:r>
            <a:endParaRPr lang="he-IL" sz="15000" dirty="0"/>
          </a:p>
        </p:txBody>
      </p:sp>
      <p:sp>
        <p:nvSpPr>
          <p:cNvPr id="4" name="reqam-ko"/>
          <p:cNvSpPr txBox="1"/>
          <p:nvPr/>
        </p:nvSpPr>
        <p:spPr>
          <a:xfrm>
            <a:off x="685800" y="379476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레캄</a:t>
            </a:r>
            <a:endParaRPr lang="en-US" sz="5400" dirty="0"/>
          </a:p>
        </p:txBody>
      </p:sp>
      <p:sp>
        <p:nvSpPr>
          <p:cNvPr id="5" name="reqam-gloss"/>
          <p:cNvSpPr txBox="1"/>
          <p:nvPr/>
        </p:nvSpPr>
        <p:spPr>
          <a:xfrm>
            <a:off x="685800" y="47091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2"/>
                </a:solidFill>
              </a:rPr>
              <a:t>비어 · 빈손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출애굽기 3:21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21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내가 애굽 사람으로 이 백성에게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은혜를 입히게 할지라 너희가 나갈 때에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빈손으로 가지 아니하리니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고린도후서 1:4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4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우리의 모든 환난 중에서 우리를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위로하사 우리로 하여금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하나님께 받는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위로로써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모든 환난 중에 있는 자들을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능히 위로하게 하시는 이시로다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21488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대지 3</a:t>
            </a:r>
            <a:endParaRPr lang="en-US" sz="26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2880360"/>
            <a:ext cx="108200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하나님은 우리의 남은 삶을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구원의 소망 안에 품으십니다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4:13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13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이에 보아스가 룻을 맞이하여 아내로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삼고 그에게 들어갔더니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여호와께서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그에게 임신하게 하시므로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그가 아들을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낳은지라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4:14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14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여인들이 나오미에게 이르되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찬송할지로다 여호와께서 오늘 네게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기업 무를 자가 없게 하지 아니하셨도다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 아이의 이름이 이스라엘 중에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유명하게 되기를 원하노라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4:15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15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이는 네 생명의 회복자이며 네 노년의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봉양자라 곧 너를 사랑하며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일곱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아들보다 귀한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네 며느리가 낳은 자로다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하니라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4:16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16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나오미가 아기를 받아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품에 품고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그의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양육자가 되니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이사야 46:4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4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너희가 노년에 이르기까지 내가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그리하겠고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백발이 되기까지 내가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너희를 품을 것이라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내가 지었은즉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내가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업을 것이요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내가 품고 구하여 내리라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룻기 4:17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17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그의 이웃 여인들이 그에게 이름을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지어 주되 나오미에게 아들이 태어났다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하여 그의 이름을 오벳이라 하였는데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그는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다윗의 아버지인 이새의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아버지였더라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마태복음 1:5–6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5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살몬은 라합에게서 보아스를 낳고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보아스는 룻에게서 오벳을 낳고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오벳은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이새를 낳고</a:t>
            </a:r>
            <a:endParaRPr lang="en-US" sz="2400" dirty="0"/>
          </a:p>
          <a:p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6 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이새는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다윗 왕을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낳으니라 다윗은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우리야의 아내에게서 솔로몬을 낳고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마태복음 1:16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16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야곱은 마리아의 남편 요셉을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낳았으니 마리아에게서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그리스도라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칭하는 예수가 나시니라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로마서 14:8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8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우리가 살아도 주를 위하여 살고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죽어도 주를 위하여 죽나니 그러므로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사나 죽으나 우리가 주의 것이로다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21488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결론</a:t>
            </a:r>
            <a:endParaRPr lang="en-US" sz="26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2880360"/>
            <a:ext cx="108200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너는 아직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집에 온 것이 아니다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히브리서 11:13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13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 사람들은 다 믿음을 따라 죽었으며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약속을 받지 못하였으되 그것들을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멀리서 보고 환영하며 또 땅에서는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외국인과 나그네임을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증언하였으니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히브리서 11:16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16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그들이 이제는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더 나은 본향을 사모하니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곧 하늘에 있는 것이라 그러므로 하나님이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그들의 하나님이라 일컬음 받으심을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부끄러워하지 아니하시고 그들을 위하여 한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성을 예비하셨느니라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요한복음 14:2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2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내 아버지 집에 거할 곳이 많도다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그렇지 않으면 너희에게 일렀으리라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내가 너희를 위하여 거처를 예비하러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가노니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요한복음 14:3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3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가서 너희를 위하여 거처를 예비하면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내가 다시 와서 너희를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내게로 영접하여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나 있는 곳에 너희도 있게 하리라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C.S. 루이스</a:t>
            </a:r>
            <a:endParaRPr lang="en-US" sz="2400" dirty="0"/>
          </a:p>
        </p:txBody>
      </p:sp>
      <p:sp>
        <p:nvSpPr>
          <p:cNvPr id="3" name="quote-ko"/>
          <p:cNvSpPr txBox="1"/>
          <p:nvPr/>
        </p:nvSpPr>
        <p:spPr>
          <a:xfrm>
            <a:off x="685800" y="1234440"/>
            <a:ext cx="10820095" cy="29260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슬픔이 이토록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두려움과 닮았다고는,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아무도 내게 말해 주지 않았다.</a:t>
            </a:r>
            <a:endParaRPr lang="en-US" sz="4000" dirty="0"/>
          </a:p>
        </p:txBody>
      </p:sp>
      <p:sp>
        <p:nvSpPr>
          <p:cNvPr id="4" name="quote-en-card"/>
          <p:cNvSpPr/>
          <p:nvPr/>
        </p:nvSpPr>
        <p:spPr>
          <a:xfrm>
            <a:off x="685800" y="4343400"/>
            <a:ext cx="10820095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quote-en"/>
          <p:cNvSpPr txBox="1"/>
          <p:nvPr/>
        </p:nvSpPr>
        <p:spPr>
          <a:xfrm>
            <a:off x="960120" y="438912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ever told me that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grief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felt so like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fear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800" dirty="0"/>
          </a:p>
        </p:txBody>
      </p:sp>
      <p:sp>
        <p:nvSpPr>
          <p:cNvPr id="6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C.S. 루이스 · 『헤아려 본 슬픔』 첫 문장 (1961)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찰스 스펄전</a:t>
            </a:r>
            <a:endParaRPr lang="en-US" sz="2400" dirty="0"/>
          </a:p>
        </p:txBody>
      </p:sp>
      <p:sp>
        <p:nvSpPr>
          <p:cNvPr id="3" name="quote-ko"/>
          <p:cNvSpPr txBox="1"/>
          <p:nvPr/>
        </p:nvSpPr>
        <p:spPr>
          <a:xfrm>
            <a:off x="685800" y="1234440"/>
            <a:ext cx="10820095" cy="27929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그리스도인은 하나님을, 너무 지혜로우셔서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실수하지 않으시고,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너무 선하셔서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매정하지 않으신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분으로 믿습니다.</a:t>
            </a:r>
            <a:endParaRPr lang="en-US" sz="4000" dirty="0"/>
          </a:p>
        </p:txBody>
      </p:sp>
      <p:sp>
        <p:nvSpPr>
          <p:cNvPr id="4" name="quote-en-card"/>
          <p:cNvSpPr/>
          <p:nvPr/>
        </p:nvSpPr>
        <p:spPr>
          <a:xfrm>
            <a:off x="685800" y="4210304"/>
            <a:ext cx="10820095" cy="1276096"/>
          </a:xfrm>
          <a:prstGeom prst="roundRect">
            <a:avLst>
              <a:gd name="adj" fmla="val 57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quote-en"/>
          <p:cNvSpPr txBox="1"/>
          <p:nvPr/>
        </p:nvSpPr>
        <p:spPr>
          <a:xfrm>
            <a:off x="960120" y="4256024"/>
            <a:ext cx="10271455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believes Him to be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wise to err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good to be unkind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800" dirty="0"/>
          </a:p>
        </p:txBody>
      </p:sp>
      <p:sp>
        <p:nvSpPr>
          <p:cNvPr id="6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찰스 스펄전 · 설교 「행복한 그리스도인」 (1867)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벳시 텐 붐</a:t>
            </a:r>
            <a:endParaRPr lang="en-US" sz="2400" dirty="0"/>
          </a:p>
        </p:txBody>
      </p:sp>
      <p:sp>
        <p:nvSpPr>
          <p:cNvPr id="3" name="quote-ko"/>
          <p:cNvSpPr txBox="1"/>
          <p:nvPr/>
        </p:nvSpPr>
        <p:spPr>
          <a:xfrm>
            <a:off x="685800" y="1234440"/>
            <a:ext cx="10820095" cy="29260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아무리 깊은 구덩이라도, 주님은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그보다 더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깊이 계셔.</a:t>
            </a:r>
            <a:endParaRPr lang="en-US" sz="4000" dirty="0"/>
          </a:p>
        </p:txBody>
      </p:sp>
      <p:sp>
        <p:nvSpPr>
          <p:cNvPr id="4" name="quote-en-card"/>
          <p:cNvSpPr/>
          <p:nvPr/>
        </p:nvSpPr>
        <p:spPr>
          <a:xfrm>
            <a:off x="685800" y="4343400"/>
            <a:ext cx="10820095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quote-en"/>
          <p:cNvSpPr txBox="1"/>
          <p:nvPr/>
        </p:nvSpPr>
        <p:spPr>
          <a:xfrm>
            <a:off x="960120" y="438912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pit so deep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that He is not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deeper still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800" dirty="0"/>
          </a:p>
        </p:txBody>
      </p:sp>
      <p:sp>
        <p:nvSpPr>
          <p:cNvPr id="6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벳시 텐 붐 · 라벤스브뤼크 수용소에서 (1944)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장 칼뱅</a:t>
            </a:r>
            <a:endParaRPr lang="en-US" sz="2400" dirty="0"/>
          </a:p>
        </p:txBody>
      </p:sp>
      <p:sp>
        <p:nvSpPr>
          <p:cNvPr id="3" name="quote-ko"/>
          <p:cNvSpPr txBox="1"/>
          <p:nvPr/>
        </p:nvSpPr>
        <p:spPr>
          <a:xfrm>
            <a:off x="685800" y="1234440"/>
            <a:ext cx="10820095" cy="27929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그 사람이 받을 자격을 보지 말고, 모든 사람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안에 있는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800" b="1" dirty="0">
                <a:solidFill>
                  <a:schemeClr val="accent1"/>
                </a:solidFill>
              </a:rPr>
              <a:t>하나님의 형상을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바라보십시오.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우리는 그 형상에 모든 존귀와 사랑을 빚지고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있습니다.</a:t>
            </a:r>
            <a:endParaRPr lang="en-US" sz="3800" dirty="0"/>
          </a:p>
        </p:txBody>
      </p:sp>
      <p:sp>
        <p:nvSpPr>
          <p:cNvPr id="4" name="quote-en-card"/>
          <p:cNvSpPr/>
          <p:nvPr/>
        </p:nvSpPr>
        <p:spPr>
          <a:xfrm>
            <a:off x="685800" y="4210304"/>
            <a:ext cx="10820095" cy="1276096"/>
          </a:xfrm>
          <a:prstGeom prst="roundRect">
            <a:avLst>
              <a:gd name="adj" fmla="val 57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quote-en"/>
          <p:cNvSpPr txBox="1"/>
          <p:nvPr/>
        </p:nvSpPr>
        <p:spPr>
          <a:xfrm>
            <a:off x="960120" y="4256024"/>
            <a:ext cx="10271455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upon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image of God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all men, to which we owe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honor and love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800" dirty="0"/>
          </a:p>
        </p:txBody>
      </p:sp>
      <p:sp>
        <p:nvSpPr>
          <p:cNvPr id="6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장 칼뱅 · 『기독교강요』 3권 7장 6절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디트리히 본회퍼</a:t>
            </a:r>
            <a:endParaRPr lang="en-US" sz="2400" dirty="0"/>
          </a:p>
        </p:txBody>
      </p:sp>
      <p:sp>
        <p:nvSpPr>
          <p:cNvPr id="3" name="quote-ko"/>
          <p:cNvSpPr txBox="1"/>
          <p:nvPr/>
        </p:nvSpPr>
        <p:spPr>
          <a:xfrm>
            <a:off x="685800" y="1234440"/>
            <a:ext cx="10820095" cy="2890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공동체 안에서 우리가 서로에게 빚진 첫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번째 섬김은,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그의 말을 들어 주는 것입니다.</a:t>
            </a:r>
            <a:endParaRPr lang="en-US" sz="4000" dirty="0"/>
          </a:p>
        </p:txBody>
      </p:sp>
      <p:sp>
        <p:nvSpPr>
          <p:cNvPr id="4" name="quote-en-card"/>
          <p:cNvSpPr/>
          <p:nvPr/>
        </p:nvSpPr>
        <p:spPr>
          <a:xfrm>
            <a:off x="685800" y="4307840"/>
            <a:ext cx="10820095" cy="1178560"/>
          </a:xfrm>
          <a:prstGeom prst="roundRect">
            <a:avLst>
              <a:gd name="adj" fmla="val 62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quote-en"/>
          <p:cNvSpPr txBox="1"/>
          <p:nvPr/>
        </p:nvSpPr>
        <p:spPr>
          <a:xfrm>
            <a:off x="960120" y="4353560"/>
            <a:ext cx="10271455" cy="1087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service that one owes to others in the fellowship consists in 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listening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them.</a:t>
            </a:r>
            <a:endParaRPr lang="en-US" sz="2500" dirty="0"/>
          </a:p>
        </p:txBody>
      </p:sp>
      <p:sp>
        <p:nvSpPr>
          <p:cNvPr id="6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디트리히 본회퍼 · 『신도의 공동생활』 (1939)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윌리엄 쿠퍼</a:t>
            </a:r>
            <a:endParaRPr lang="en-US" sz="2400" dirty="0"/>
          </a:p>
        </p:txBody>
      </p:sp>
      <p:sp>
        <p:nvSpPr>
          <p:cNvPr id="3" name="quote-ko"/>
          <p:cNvSpPr txBox="1"/>
          <p:nvPr/>
        </p:nvSpPr>
        <p:spPr>
          <a:xfrm>
            <a:off x="685800" y="1234440"/>
            <a:ext cx="10820095" cy="27929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꽃봉오리는 쓴맛이 날지 몰라도,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그 꽃은 달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것이다.</a:t>
            </a:r>
            <a:endParaRPr lang="en-US" sz="4000" dirty="0"/>
          </a:p>
        </p:txBody>
      </p:sp>
      <p:sp>
        <p:nvSpPr>
          <p:cNvPr id="4" name="quote-en-card"/>
          <p:cNvSpPr/>
          <p:nvPr/>
        </p:nvSpPr>
        <p:spPr>
          <a:xfrm>
            <a:off x="685800" y="4210304"/>
            <a:ext cx="10820095" cy="1276096"/>
          </a:xfrm>
          <a:prstGeom prst="roundRect">
            <a:avLst>
              <a:gd name="adj" fmla="val 57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quote-en"/>
          <p:cNvSpPr txBox="1"/>
          <p:nvPr/>
        </p:nvSpPr>
        <p:spPr>
          <a:xfrm>
            <a:off x="960120" y="4256024"/>
            <a:ext cx="10271455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bud may have a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bitter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taste,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sweet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will be the flower.</a:t>
            </a:r>
            <a:endParaRPr lang="en-US" sz="2800" dirty="0"/>
          </a:p>
        </p:txBody>
      </p:sp>
      <p:sp>
        <p:nvSpPr>
          <p:cNvPr id="6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윌리엄 쿠퍼 · 찬송시 「하나님은 신비롭게 일하시네」 5연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하이델베르크 요리문답</a:t>
            </a:r>
            <a:endParaRPr lang="en-US" sz="2400" dirty="0"/>
          </a:p>
        </p:txBody>
      </p:sp>
      <p:sp>
        <p:nvSpPr>
          <p:cNvPr id="3" name="quote-ko"/>
          <p:cNvSpPr txBox="1"/>
          <p:nvPr/>
        </p:nvSpPr>
        <p:spPr>
          <a:xfrm>
            <a:off x="685800" y="1234440"/>
            <a:ext cx="10820095" cy="2890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살아서나 죽어서나 나의 유일한 위로는,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내가 나의 것이 아니요,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몸도 영혼도 나의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신실한 구주 예수 그리스도의 것이라는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사실입니다.</a:t>
            </a:r>
            <a:endParaRPr lang="en-US" sz="4000" dirty="0"/>
          </a:p>
        </p:txBody>
      </p:sp>
      <p:sp>
        <p:nvSpPr>
          <p:cNvPr id="4" name="quote-en-card"/>
          <p:cNvSpPr/>
          <p:nvPr/>
        </p:nvSpPr>
        <p:spPr>
          <a:xfrm>
            <a:off x="685800" y="4307840"/>
            <a:ext cx="10820095" cy="1178560"/>
          </a:xfrm>
          <a:prstGeom prst="roundRect">
            <a:avLst>
              <a:gd name="adj" fmla="val 62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quote-en"/>
          <p:cNvSpPr txBox="1"/>
          <p:nvPr/>
        </p:nvSpPr>
        <p:spPr>
          <a:xfrm>
            <a:off x="960120" y="4353560"/>
            <a:ext cx="10271455" cy="1087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your 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comfort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life and in death? That I am 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my own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but belong to my faithful Savior Jesus Christ.</a:t>
            </a:r>
            <a:endParaRPr lang="en-US" sz="2500" dirty="0"/>
          </a:p>
        </p:txBody>
      </p:sp>
      <p:sp>
        <p:nvSpPr>
          <p:cNvPr id="6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하이델베르크 요리문답 제1문 (1563)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존 플라벨</a:t>
            </a:r>
            <a:endParaRPr lang="en-US" sz="2400" dirty="0"/>
          </a:p>
        </p:txBody>
      </p:sp>
      <p:sp>
        <p:nvSpPr>
          <p:cNvPr id="3" name="quote-ko"/>
          <p:cNvSpPr txBox="1"/>
          <p:nvPr/>
        </p:nvSpPr>
        <p:spPr>
          <a:xfrm>
            <a:off x="685800" y="1234440"/>
            <a:ext cx="10820095" cy="27929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어떤 섭리는, 히브리어 글자처럼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거꾸로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읽어야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합니다.</a:t>
            </a:r>
            <a:endParaRPr lang="en-US" sz="4000" dirty="0"/>
          </a:p>
        </p:txBody>
      </p:sp>
      <p:sp>
        <p:nvSpPr>
          <p:cNvPr id="4" name="quote-en-card"/>
          <p:cNvSpPr/>
          <p:nvPr/>
        </p:nvSpPr>
        <p:spPr>
          <a:xfrm>
            <a:off x="685800" y="4210304"/>
            <a:ext cx="10820095" cy="1276096"/>
          </a:xfrm>
          <a:prstGeom prst="roundRect">
            <a:avLst>
              <a:gd name="adj" fmla="val 57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quote-en"/>
          <p:cNvSpPr txBox="1"/>
          <p:nvPr/>
        </p:nvSpPr>
        <p:spPr>
          <a:xfrm>
            <a:off x="960120" y="4256024"/>
            <a:ext cx="10271455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providences, like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Hebrew letters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must be 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backward</a:t>
            </a:r>
            <a:pPr indent="0" marL="0">
              <a:lnSpc>
                <a:spcPct val="105000"/>
              </a:lnSpc>
              <a:buNone/>
            </a:pPr>
            <a:r>
              <a:rPr lang="en-US" altLang="en-US" sz="2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800" dirty="0"/>
          </a:p>
        </p:txBody>
      </p:sp>
      <p:sp>
        <p:nvSpPr>
          <p:cNvPr id="6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존 플라벨 · 영국 청교도 목사 (1628–1691)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아우구스티누스</a:t>
            </a:r>
            <a:endParaRPr lang="en-US" sz="2400" dirty="0"/>
          </a:p>
        </p:txBody>
      </p:sp>
      <p:sp>
        <p:nvSpPr>
          <p:cNvPr id="3" name="quote-ko"/>
          <p:cNvSpPr txBox="1"/>
          <p:nvPr/>
        </p:nvSpPr>
        <p:spPr>
          <a:xfrm>
            <a:off x="685800" y="1234440"/>
            <a:ext cx="10820095" cy="2890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주님은 우리를 주님을 향하도록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지으셨으니, 우리 마음은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주님 안에서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쉬기까지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쉼이 없습니다.</a:t>
            </a:r>
            <a:endParaRPr lang="en-US" sz="4000" dirty="0"/>
          </a:p>
        </p:txBody>
      </p:sp>
      <p:sp>
        <p:nvSpPr>
          <p:cNvPr id="4" name="quote-en-card"/>
          <p:cNvSpPr/>
          <p:nvPr/>
        </p:nvSpPr>
        <p:spPr>
          <a:xfrm>
            <a:off x="685800" y="4307840"/>
            <a:ext cx="10820095" cy="1178560"/>
          </a:xfrm>
          <a:prstGeom prst="roundRect">
            <a:avLst>
              <a:gd name="adj" fmla="val 62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quote-en"/>
          <p:cNvSpPr txBox="1"/>
          <p:nvPr/>
        </p:nvSpPr>
        <p:spPr>
          <a:xfrm>
            <a:off x="960120" y="4353560"/>
            <a:ext cx="10271455" cy="1087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Inquietum est cor nostrum, donec requiescat in te.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heart is 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restless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until it 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rests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You.</a:t>
            </a:r>
            <a:endParaRPr lang="en-US" sz="2500" dirty="0"/>
          </a:p>
        </p:txBody>
      </p:sp>
      <p:sp>
        <p:nvSpPr>
          <p:cNvPr id="6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아우구스티누스 · 『고백록』 1권 1장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rley Night">
  <a:themeElements>
    <a:clrScheme name="Barley Night">
      <a:dk1>
        <a:srgbClr val="1E1A16"/>
      </a:dk1>
      <a:lt1>
        <a:srgbClr val="F4EDE1"/>
      </a:lt1>
      <a:dk2>
        <a:srgbClr val="2B251F"/>
      </a:dk2>
      <a:lt2>
        <a:srgbClr val="A89C8A"/>
      </a:lt2>
      <a:accent1>
        <a:srgbClr val="E2B65A"/>
      </a:accent1>
      <a:accent2>
        <a:srgbClr val="7A6646"/>
      </a:accent2>
      <a:accent3>
        <a:srgbClr val="C9773F"/>
      </a:accent3>
      <a:accent4>
        <a:srgbClr val="8FA88E"/>
      </a:accent4>
      <a:accent5>
        <a:srgbClr val="6F8CA8"/>
      </a:accent5>
      <a:accent6>
        <a:srgbClr val="B5838D"/>
      </a:accent6>
      <a:hlink>
        <a:srgbClr val="E2B65A"/>
      </a:hlink>
      <a:folHlink>
        <a:srgbClr val="A89C8A"/>
      </a:folHlink>
    </a:clrScheme>
    <a:fontScheme name="Barley Nigh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빈손 같은 인생, 채우시는 하나님</dc:title>
  <dc:subject>PptxGenJS Presentation</dc:subject>
  <dc:creator>설교 성경연구 부서</dc:creator>
  <cp:lastModifiedBy>설교 성경연구 부서</cp:lastModifiedBy>
  <cp:revision>1</cp:revision>
  <dcterms:created xsi:type="dcterms:W3CDTF">2026-10-18T15:08:36Z</dcterms:created>
  <dcterms:modified xsi:type="dcterms:W3CDTF">2026-10-18T15:08:36Z</dcterms:modified>
</cp:coreProperties>
</file>