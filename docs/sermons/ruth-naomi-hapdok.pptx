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설교 전 봉독" id="{0697a5d9-b5f4-08ea-4854-72cf150b1638}">
          <p14:sldIdLst>
            <p14:sldId id="256"/>
            <p14:sldId id="257"/>
            <p14:sldId id="258"/>
            <p14:sldId id="259"/>
            <p14:sldId id="260"/>
          </p14:sldIdLst>
        </p14:section>
        <p14:section name="대지 1" id="{06f19d4a-664a-8d6a-5ac0-78f5e16d90f4}">
          <p14:sldIdLst>
            <p14:sldId id="261"/>
            <p14:sldId id="262"/>
            <p14:sldId id="263"/>
            <p14:sldId id="264"/>
          </p14:sldIdLst>
        </p14:section>
        <p14:section name="대지 2" id="{be5f6391-f3d1-4ace-7990-f8dc57f007f7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대지 3" id="{bb88e60f-f77d-70b6-f2b1-145985666390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결론" id="{d7f19c29-cdb0-8176-af99-c3247139abaf}">
          <p14:sldIdLst>
            <p14:sldId id="284"/>
            <p14:sldId id="285"/>
            <p14:sldId id="286"/>
            <p14:sldId id="287"/>
          </p14:sldIdLst>
        </p14:section>
        <p14:section name="예비 명언" id="{73f0fb0e-9c44-f322-51d8-fa7a9c7804f1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[예배 순서 · 성경 봉독 직전] 이 표지를 띄워 두었다가, 봉독이 시작되면 다음 장(1:19)으로 넘깁니다. 설교 전에는 룻기 1:19–22만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[설교 전 봉독] 룻기 1:19. 한 절씩 넘깁니다.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[설교 전 봉독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[설교 전 봉독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[설교 전 봉독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세 단어 합독 ①] 설교자: "21절을 다 함께 한 번 더 읽겠습니다" — 이 말에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마침표와 쉼표 뒤] 설교자: "나오미가 왜 돌아왔는지, 1장 6절을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눈물을 담는 병] 설교자: "다윗도 쫓겨 다니던 날에 이렇게 기도했습니다.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★명언] 설교자가 "윌리엄 쿠퍼는…" 하고 소개할 때 띄웁니다. 합독이 아니라 설교자가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첫머리] 설교자: "룻은 시어머니를 붙들고 이렇게 고백합니다.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그 사람은 우리와 가까우니] 설교자: "2장 20절,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중심을 보시는 하나님] 하반절만 읽습니다. 다 읽은 뒤 설교자가 배꼽티 조크를 합니다 — 화면은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과부 사정은 과부가 안다] 설교자: "바울도 그렇게 말합니다.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세 단어 합독 ②] 설교자: "3장 17절입니다. 다 함께, 천천히". 읽은 뒤 2초 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레캄은 하나님의 단어] 설교자: "하나님이 무엇이라 약속하셨는지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레캄 모음] 출애굽기 3:21 합독 직후에 띄워 둡니다. 설교자가 신명기 15:13을 말할 때 회중이 함께 봅니다. 합독하지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★명언] 설교자가 "C.S. 루이스는…" 하고 소개할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첫머리] 설교자: "4장 13절부터 17절입니다. 다 함께". 13–17절을 한 절씩 넘깁니다.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4:13–17 합독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4:13–17 합독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4:13–17 합독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4:13–17 합독 끝]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세 단어 합독 ③] 설교자: "16절을 다 함께 한 번 더 읽겠습니다". 읽은 뒤 길게 쉽니다 — 설교의 정서적 절정.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나오미를 품으신 하나님] 설교자: "누가 나오미를 품고 있었습니까?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믿음의 유산이 이른 곳] 설교자: "여기서 멈추지 않습니다.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마태복음 합독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그러므로] 설교자: "바울의 고백을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★명언] 설교자가 "소요리문답의 첫 문답입니다"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이민을 두 번 가는 사람들] 설교자: "히브리서는 믿음의 선배들을 이렇게 불렀습니다.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히브리서 합독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이민 두 번 피크 뒤] 설교자: "예수님께서 그 집에 대해 말씀하셨습니다.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요한복음 합독 끝] 이 화면은 마침 기도까지 띄워 두어도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명언] 설교자가 시간이 남아 이 명언을 쓸 때만 띄웁니다. 평소에는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명언] 설교자가 시간이 남아 이 명언을 쓸 때만 띄웁니다. 평소에는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명언] 설교자가 시간이 남아 이 명언을 쓸 때만 띄웁니다. 평소에는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명언] 설교자가 시간이 남아 이 명언을 쓸 때만 띄웁니다. 평소에는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명언] 설교자가 시간이 남아 이 명언을 쓸 때만 띄웁니다. 평소에는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명언] 설교자가 시간이 남아 이 명언을 쓸 때만 띄웁니다. 평소에는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명언] 설교자가 시간이 남아 이 명언을 쓸 때만 띄웁니다. 평소에는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명언] 설교자가 시간이 남아 이 명언을 쓸 때만 띄웁니다. 평소에는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328" y="9601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697480"/>
            <a:ext cx="1082009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977640"/>
            <a:ext cx="1082009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U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1206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1206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D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1206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85800" y="269748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빈손 같은 인생, 채우시는 하나님</a:t>
            </a:r>
            <a:endParaRPr lang="en-US" sz="5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3977640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룻기 1:19–22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1:19</a:t>
            </a:r>
            <a:endParaRPr lang="en-US" sz="2400" dirty="0"/>
          </a:p>
        </p:txBody>
      </p:sp>
      <p:sp>
        <p:nvSpPr>
          <p:cNvPr id="3" name="tag-봉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봉독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19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이에 그 두 사람이 베들레헴까지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갔더라 베들레헴에 이를 때에 온 성읍이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그들로 말미암아 떠들며 이르기를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이이가 나오미냐 하는지라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1:20</a:t>
            </a:r>
            <a:endParaRPr lang="en-US" sz="2400" dirty="0"/>
          </a:p>
        </p:txBody>
      </p:sp>
      <p:sp>
        <p:nvSpPr>
          <p:cNvPr id="3" name="tag-봉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봉독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20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나오미가 그들에게 이르되 나를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나오미라 부르지 말고 나를 마라라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부르라 이는 전능자가 나를 심히 괴롭게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하셨음이니라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1:21</a:t>
            </a:r>
            <a:endParaRPr lang="en-US" sz="2400" dirty="0"/>
          </a:p>
        </p:txBody>
      </p:sp>
      <p:sp>
        <p:nvSpPr>
          <p:cNvPr id="3" name="tag-봉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봉독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21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풍족하게 나갔더니 여호와께서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내게 비어 돌아오게 하셨느니라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여호와께서 나를 징벌하셨고 전능자가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나를 괴롭게 하셨거늘 너희가 어찌 나를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나오미라 부르느냐 하니라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1:22</a:t>
            </a:r>
            <a:endParaRPr lang="en-US" sz="2400" dirty="0"/>
          </a:p>
        </p:txBody>
      </p:sp>
      <p:sp>
        <p:nvSpPr>
          <p:cNvPr id="3" name="tag-봉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봉독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22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나오미가 모압 지방에서 그의 며느리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모압 여인 룻과 함께 돌아왔는데 그들이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보리 추수 시작할 때에 베들레헴에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이르렀더라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1:21 상 · 한 번 더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21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풍족하게 나갔더니 여호와께서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내게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비어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돌아오게 하셨느니라</a:t>
            </a:r>
            <a:endParaRPr lang="en-US" sz="2400" dirty="0"/>
          </a:p>
        </p:txBody>
      </p:sp>
      <p:sp>
        <p:nvSpPr>
          <p:cNvPr id="5" name="trail-1"/>
          <p:cNvSpPr/>
          <p:nvPr/>
        </p:nvSpPr>
        <p:spPr>
          <a:xfrm>
            <a:off x="1889608" y="6053328"/>
            <a:ext cx="2468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1:21  </a:t>
            </a:r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비어</a:t>
            </a:r>
            <a:endParaRPr lang="en-US" sz="1300" dirty="0"/>
          </a:p>
        </p:txBody>
      </p:sp>
      <p:sp>
        <p:nvSpPr>
          <p:cNvPr id="6" name="trail-arrow-1"/>
          <p:cNvSpPr txBox="1"/>
          <p:nvPr/>
        </p:nvSpPr>
        <p:spPr>
          <a:xfrm>
            <a:off x="4358488" y="6053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rail-2"/>
          <p:cNvSpPr/>
          <p:nvPr/>
        </p:nvSpPr>
        <p:spPr>
          <a:xfrm>
            <a:off x="4861408" y="6053328"/>
            <a:ext cx="2468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3:17 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빈손</a:t>
            </a:r>
            <a:endParaRPr lang="en-US" sz="1300" dirty="0"/>
          </a:p>
        </p:txBody>
      </p:sp>
      <p:sp>
        <p:nvSpPr>
          <p:cNvPr id="8" name="trail-arrow-2"/>
          <p:cNvSpPr txBox="1"/>
          <p:nvPr/>
        </p:nvSpPr>
        <p:spPr>
          <a:xfrm>
            <a:off x="7330288" y="6053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rail-3"/>
          <p:cNvSpPr/>
          <p:nvPr/>
        </p:nvSpPr>
        <p:spPr>
          <a:xfrm>
            <a:off x="7833208" y="6053328"/>
            <a:ext cx="2468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4:16 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품에 품고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1:6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 여인이 모압 지방에서 여호와께서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자기 백성을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돌보시사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그들에게 양식을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주셨다 함을 듣고 이에 두 며느리와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함께 일어나 모압 지방에서 돌아오려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하여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시편 56:8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8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나의 유리함을 주께서 계수하셨사오니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나의 눈물을 주의 병에 담으소서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이것이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주의 책에 기록되지 아니하였나이까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★ 명언 · 대지 1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0777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연약한 감각으로 주님을 판단하지 말고,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그분의 은혜를 신뢰하라.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찌푸린 섭리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뒤에,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그분은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웃는 얼굴을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감추고 계신다.</a:t>
            </a:r>
            <a:endParaRPr lang="en-US" sz="38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3495040"/>
            <a:ext cx="10820095" cy="1991360"/>
          </a:xfrm>
          <a:prstGeom prst="roundRect">
            <a:avLst>
              <a:gd name="adj" fmla="val 36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3540760"/>
            <a:ext cx="10271455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not the Lord by feeble sense,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trust Him for His grace;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a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frowning providence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hides a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smiling face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5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윌리엄 쿠퍼 · 찬송시 「하나님은 신비롭게 일하시네」 (1773)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1:16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chemeClr val="accent2"/>
                </a:solidFill>
              </a:rPr>
              <a:t>16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룻이 이르되 내게 어머니를 떠나며 어머니를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따르지 말고 돌아가라 강권하지 마옵소서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어머니께서 가시는 곳에 나도 가고 어머니께서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머무시는 곳에서 나도 머물겠나이다 어머니의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백성이 나의 백성이 되고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600" b="1" dirty="0">
                <a:solidFill>
                  <a:schemeClr val="accent1"/>
                </a:solidFill>
              </a:rPr>
              <a:t>어머니의 하나님이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b="1" dirty="0">
                <a:solidFill>
                  <a:schemeClr val="accent1"/>
                </a:solidFill>
              </a:rPr>
              <a:t>나의 하나님이 되시리니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2:20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100" b="1" dirty="0">
                <a:solidFill>
                  <a:schemeClr val="accent2"/>
                </a:solidFill>
              </a:rPr>
              <a:t>20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나오미가 그에게 이르되 그가 여호와로부터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복 받기를 원하노라 그가 살아 있는 자와 죽은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자에게 은혜 베푸는 것을 그치지 아니하도다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하고 나오미가 또 그에게 이르되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그 사람은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우리와 가까우니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우리 기업을 무를 자 중의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하나이니라 하였더라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사무엘상 16:7 하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7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사람은 외모를 보거니와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나 여호와는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중심을 보느니라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고린도후서 1:4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4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우리의 모든 환난 중에서 우리를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위로하사 우리로 하여금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하나님께 받는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위로로써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모든 환난 중에 있는 자들을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능히 위로하게 하시는 이시로다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3:17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17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이르되 그가 내게 이 보리를 여섯 번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되어 주며 이르기를 네 시어머니에게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빈손으로 가지 말라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하였느니라 하니라</a:t>
            </a:r>
            <a:endParaRPr lang="en-US" sz="2400" dirty="0"/>
          </a:p>
        </p:txBody>
      </p:sp>
      <p:sp>
        <p:nvSpPr>
          <p:cNvPr id="5" name="trail-1"/>
          <p:cNvSpPr/>
          <p:nvPr/>
        </p:nvSpPr>
        <p:spPr>
          <a:xfrm>
            <a:off x="1889608" y="6053328"/>
            <a:ext cx="2468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1:21 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비어</a:t>
            </a:r>
            <a:endParaRPr lang="en-US" sz="1300" dirty="0"/>
          </a:p>
        </p:txBody>
      </p:sp>
      <p:sp>
        <p:nvSpPr>
          <p:cNvPr id="6" name="trail-arrow-1"/>
          <p:cNvSpPr txBox="1"/>
          <p:nvPr/>
        </p:nvSpPr>
        <p:spPr>
          <a:xfrm>
            <a:off x="4358488" y="6053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rail-2"/>
          <p:cNvSpPr/>
          <p:nvPr/>
        </p:nvSpPr>
        <p:spPr>
          <a:xfrm>
            <a:off x="4861408" y="6053328"/>
            <a:ext cx="2468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3:17  </a:t>
            </a:r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빈손</a:t>
            </a:r>
            <a:endParaRPr lang="en-US" sz="1300" dirty="0"/>
          </a:p>
        </p:txBody>
      </p:sp>
      <p:sp>
        <p:nvSpPr>
          <p:cNvPr id="8" name="trail-arrow-2"/>
          <p:cNvSpPr txBox="1"/>
          <p:nvPr/>
        </p:nvSpPr>
        <p:spPr>
          <a:xfrm>
            <a:off x="7330288" y="6053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rail-3"/>
          <p:cNvSpPr/>
          <p:nvPr/>
        </p:nvSpPr>
        <p:spPr>
          <a:xfrm>
            <a:off x="7833208" y="6053328"/>
            <a:ext cx="2468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4:16 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품에 품고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출애굽기 3:21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21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애굽 사람으로 이 백성에게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은혜를 입히게 할지라 너희가 나갈 때에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빈손으로 가지 아니하리니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레캄 — 하나님의 단어</a:t>
            </a:r>
            <a:endParaRPr lang="en-US" sz="2400" dirty="0"/>
          </a:p>
        </p:txBody>
      </p:sp>
      <p:sp>
        <p:nvSpPr>
          <p:cNvPr id="3" name="tag-보기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보기</a:t>
            </a:r>
            <a:endParaRPr lang="en-US" sz="1600" dirty="0"/>
          </a:p>
        </p:txBody>
      </p:sp>
      <p:sp>
        <p:nvSpPr>
          <p:cNvPr id="4" name="reqam-hebrew"/>
          <p:cNvSpPr txBox="1"/>
          <p:nvPr/>
        </p:nvSpPr>
        <p:spPr>
          <a:xfrm>
            <a:off x="685800" y="14630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רֵיקָם</a:t>
            </a:r>
            <a:endParaRPr lang="he-IL" sz="9600" dirty="0"/>
          </a:p>
        </p:txBody>
      </p:sp>
      <p:sp>
        <p:nvSpPr>
          <p:cNvPr id="5" name="reqam-ko"/>
          <p:cNvSpPr txBox="1"/>
          <p:nvPr/>
        </p:nvSpPr>
        <p:spPr>
          <a:xfrm>
            <a:off x="68580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레캄</a:t>
            </a:r>
            <a:endParaRPr lang="en-US" sz="4000" dirty="0"/>
          </a:p>
        </p:txBody>
      </p:sp>
      <p:sp>
        <p:nvSpPr>
          <p:cNvPr id="6" name="reqam-gloss"/>
          <p:cNvSpPr txBox="1"/>
          <p:nvPr/>
        </p:nvSpPr>
        <p:spPr>
          <a:xfrm>
            <a:off x="68580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비어 · 빈손</a:t>
            </a:r>
            <a:endParaRPr lang="en-US" sz="2400" dirty="0"/>
          </a:p>
        </p:txBody>
      </p:sp>
      <p:sp>
        <p:nvSpPr>
          <p:cNvPr id="7" name="reqam-row-1"/>
          <p:cNvSpPr/>
          <p:nvPr/>
        </p:nvSpPr>
        <p:spPr>
          <a:xfrm>
            <a:off x="3749040" y="1325880"/>
            <a:ext cx="7756855" cy="1024128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reqam-ref-1"/>
          <p:cNvSpPr txBox="1"/>
          <p:nvPr/>
        </p:nvSpPr>
        <p:spPr>
          <a:xfrm>
            <a:off x="3977640" y="1417320"/>
            <a:ext cx="7299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룻기 1:21</a:t>
            </a:r>
            <a:endParaRPr lang="en-US" sz="1600" dirty="0"/>
          </a:p>
        </p:txBody>
      </p:sp>
      <p:sp>
        <p:nvSpPr>
          <p:cNvPr id="9" name="reqam-text-1"/>
          <p:cNvSpPr txBox="1"/>
          <p:nvPr/>
        </p:nvSpPr>
        <p:spPr>
          <a:xfrm>
            <a:off x="3977640" y="1746504"/>
            <a:ext cx="7299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200" dirty="0">
                <a:solidFill>
                  <a:schemeClr val="bg1"/>
                </a:solidFill>
              </a:rPr>
              <a:t>여호와께서 내게 </a:t>
            </a:r>
            <a:pPr algn="l" indent="0" marL="0">
              <a:buNone/>
            </a:pPr>
            <a:r>
              <a:rPr lang="ko-KR" altLang="en-US" sz="2200" b="1" dirty="0">
                <a:solidFill>
                  <a:schemeClr val="accent1"/>
                </a:solidFill>
              </a:rPr>
              <a:t>비어</a:t>
            </a:r>
            <a:pPr algn="l" indent="0" marL="0">
              <a:buNone/>
            </a:pPr>
            <a:r>
              <a:rPr lang="ko-KR" altLang="en-US" sz="2200" dirty="0">
                <a:solidFill>
                  <a:schemeClr val="bg1"/>
                </a:solidFill>
              </a:rPr>
              <a:t> 돌아오게 하셨느니라</a:t>
            </a:r>
            <a:endParaRPr lang="ko-KR" sz="2200" dirty="0"/>
          </a:p>
        </p:txBody>
      </p:sp>
      <p:sp>
        <p:nvSpPr>
          <p:cNvPr id="10" name="reqam-row-2"/>
          <p:cNvSpPr/>
          <p:nvPr/>
        </p:nvSpPr>
        <p:spPr>
          <a:xfrm>
            <a:off x="3749040" y="2468880"/>
            <a:ext cx="7756855" cy="1024128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reqam-ref-2"/>
          <p:cNvSpPr txBox="1"/>
          <p:nvPr/>
        </p:nvSpPr>
        <p:spPr>
          <a:xfrm>
            <a:off x="3977640" y="2560320"/>
            <a:ext cx="7299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룻기 3:17</a:t>
            </a:r>
            <a:endParaRPr lang="en-US" sz="1600" dirty="0"/>
          </a:p>
        </p:txBody>
      </p:sp>
      <p:sp>
        <p:nvSpPr>
          <p:cNvPr id="12" name="reqam-text-2"/>
          <p:cNvSpPr txBox="1"/>
          <p:nvPr/>
        </p:nvSpPr>
        <p:spPr>
          <a:xfrm>
            <a:off x="3977640" y="2889504"/>
            <a:ext cx="7299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200" dirty="0">
                <a:solidFill>
                  <a:schemeClr val="bg1"/>
                </a:solidFill>
              </a:rPr>
              <a:t>네 시어머니에게 </a:t>
            </a:r>
            <a:pPr algn="l" indent="0" marL="0">
              <a:buNone/>
            </a:pPr>
            <a:r>
              <a:rPr lang="ko-KR" altLang="en-US" sz="2200" b="1" dirty="0">
                <a:solidFill>
                  <a:schemeClr val="accent1"/>
                </a:solidFill>
              </a:rPr>
              <a:t>빈손으로</a:t>
            </a:r>
            <a:pPr algn="l" indent="0" marL="0">
              <a:buNone/>
            </a:pPr>
            <a:r>
              <a:rPr lang="ko-KR" altLang="en-US" sz="2200" dirty="0">
                <a:solidFill>
                  <a:schemeClr val="bg1"/>
                </a:solidFill>
              </a:rPr>
              <a:t> 가지 말라</a:t>
            </a:r>
            <a:endParaRPr lang="ko-KR" sz="2200" dirty="0"/>
          </a:p>
        </p:txBody>
      </p:sp>
      <p:sp>
        <p:nvSpPr>
          <p:cNvPr id="13" name="reqam-row-3"/>
          <p:cNvSpPr/>
          <p:nvPr/>
        </p:nvSpPr>
        <p:spPr>
          <a:xfrm>
            <a:off x="3749040" y="3611880"/>
            <a:ext cx="7756855" cy="1024128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reqam-ref-3"/>
          <p:cNvSpPr txBox="1"/>
          <p:nvPr/>
        </p:nvSpPr>
        <p:spPr>
          <a:xfrm>
            <a:off x="3977640" y="3703320"/>
            <a:ext cx="7299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출애굽기 3:21</a:t>
            </a:r>
            <a:endParaRPr lang="en-US" sz="1600" dirty="0"/>
          </a:p>
        </p:txBody>
      </p:sp>
      <p:sp>
        <p:nvSpPr>
          <p:cNvPr id="15" name="reqam-text-3"/>
          <p:cNvSpPr txBox="1"/>
          <p:nvPr/>
        </p:nvSpPr>
        <p:spPr>
          <a:xfrm>
            <a:off x="3977640" y="4032504"/>
            <a:ext cx="7299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200" dirty="0">
                <a:solidFill>
                  <a:schemeClr val="bg1"/>
                </a:solidFill>
              </a:rPr>
              <a:t>너희가 나갈 때에 </a:t>
            </a:r>
            <a:pPr algn="l" indent="0" marL="0">
              <a:buNone/>
            </a:pPr>
            <a:r>
              <a:rPr lang="ko-KR" altLang="en-US" sz="2200" b="1" dirty="0">
                <a:solidFill>
                  <a:schemeClr val="accent1"/>
                </a:solidFill>
              </a:rPr>
              <a:t>빈손으로</a:t>
            </a:r>
            <a:pPr algn="l" indent="0" marL="0">
              <a:buNone/>
            </a:pPr>
            <a:r>
              <a:rPr lang="ko-KR" altLang="en-US" sz="2200" dirty="0">
                <a:solidFill>
                  <a:schemeClr val="bg1"/>
                </a:solidFill>
              </a:rPr>
              <a:t> 가지 아니하리니</a:t>
            </a:r>
            <a:endParaRPr lang="ko-KR" sz="2200" dirty="0"/>
          </a:p>
        </p:txBody>
      </p:sp>
      <p:sp>
        <p:nvSpPr>
          <p:cNvPr id="16" name="reqam-row-4"/>
          <p:cNvSpPr/>
          <p:nvPr/>
        </p:nvSpPr>
        <p:spPr>
          <a:xfrm>
            <a:off x="3749040" y="4754880"/>
            <a:ext cx="7756855" cy="1024128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reqam-ref-4"/>
          <p:cNvSpPr txBox="1"/>
          <p:nvPr/>
        </p:nvSpPr>
        <p:spPr>
          <a:xfrm>
            <a:off x="3977640" y="4846320"/>
            <a:ext cx="7299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신명기 15:13</a:t>
            </a:r>
            <a:endParaRPr lang="en-US" sz="1600" dirty="0"/>
          </a:p>
        </p:txBody>
      </p:sp>
      <p:sp>
        <p:nvSpPr>
          <p:cNvPr id="18" name="reqam-text-4"/>
          <p:cNvSpPr txBox="1"/>
          <p:nvPr/>
        </p:nvSpPr>
        <p:spPr>
          <a:xfrm>
            <a:off x="3977640" y="5175504"/>
            <a:ext cx="7299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200" dirty="0">
                <a:solidFill>
                  <a:schemeClr val="bg1"/>
                </a:solidFill>
              </a:rPr>
              <a:t>그를 놓아 자유하게 할 때에는 </a:t>
            </a:r>
            <a:pPr algn="l" indent="0" marL="0">
              <a:buNone/>
            </a:pPr>
            <a:r>
              <a:rPr lang="ko-KR" altLang="en-US" sz="2200" b="1" dirty="0">
                <a:solidFill>
                  <a:schemeClr val="accent1"/>
                </a:solidFill>
              </a:rPr>
              <a:t>빈손으로</a:t>
            </a:r>
            <a:pPr algn="l" indent="0" marL="0">
              <a:buNone/>
            </a:pPr>
            <a:r>
              <a:rPr lang="ko-KR" altLang="en-US" sz="2200" dirty="0">
                <a:solidFill>
                  <a:schemeClr val="bg1"/>
                </a:solidFill>
              </a:rPr>
              <a:t> 가게 하지 말고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★ 명언 · 대지 2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평범한 사람이란 없습니다.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여러분은 단 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번도, 그저 죽고 마는 존재와 이야기해 본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적이 없습니다.</a:t>
            </a:r>
            <a:endParaRPr lang="en-US" sz="40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ordinary people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You have never talked to a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mere mortal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C.S. 루이스 · 설교 「영광의 무게」 (1941)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4:13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13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이에 보아스가 룻을 맞이하여 아내로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삼고 그와 동침하였더니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여호와께서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그에게 임신하게 하시므로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그가 아들을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낳은지라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4:14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14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여인들이 나오미에게 이르되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찬송할지로다 여호와께서 오늘 네게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기업 무를 자가 없게 하지 아니하셨도다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 아이의 이름이 이스라엘 중에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유명하게 되기를 원하노라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4:15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15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이는 네 생명의 회복자이며 네 노년의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봉양자라 곧 너를 사랑하며 일곱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아들보다 귀한 네 며느리가 낳은 자로다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4:16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나오미가 아기를 받아 품에 품고 그의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양육자가 되니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4:17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17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그의 이웃 여인들이 그에게 이름을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지어 주되 나오미에게 아들이 태어났다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하여 그의 이름을 오벳이라 하였는데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다윗의 아버지인 이새의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아버지였더라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4:16 · 한 번 더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나오미가 아기를 받아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품에 품고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양육자가 되니</a:t>
            </a:r>
            <a:endParaRPr lang="en-US" sz="2400" dirty="0"/>
          </a:p>
        </p:txBody>
      </p:sp>
      <p:sp>
        <p:nvSpPr>
          <p:cNvPr id="5" name="trail-1"/>
          <p:cNvSpPr/>
          <p:nvPr/>
        </p:nvSpPr>
        <p:spPr>
          <a:xfrm>
            <a:off x="1889608" y="6053328"/>
            <a:ext cx="2468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1:21 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비어</a:t>
            </a:r>
            <a:endParaRPr lang="en-US" sz="1300" dirty="0"/>
          </a:p>
        </p:txBody>
      </p:sp>
      <p:sp>
        <p:nvSpPr>
          <p:cNvPr id="6" name="trail-arrow-1"/>
          <p:cNvSpPr txBox="1"/>
          <p:nvPr/>
        </p:nvSpPr>
        <p:spPr>
          <a:xfrm>
            <a:off x="4358488" y="6053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rail-2"/>
          <p:cNvSpPr/>
          <p:nvPr/>
        </p:nvSpPr>
        <p:spPr>
          <a:xfrm>
            <a:off x="4861408" y="6053328"/>
            <a:ext cx="2468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3:17 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빈손</a:t>
            </a:r>
            <a:endParaRPr lang="en-US" sz="1300" dirty="0"/>
          </a:p>
        </p:txBody>
      </p:sp>
      <p:sp>
        <p:nvSpPr>
          <p:cNvPr id="8" name="trail-arrow-2"/>
          <p:cNvSpPr txBox="1"/>
          <p:nvPr/>
        </p:nvSpPr>
        <p:spPr>
          <a:xfrm>
            <a:off x="7330288" y="6053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rail-3"/>
          <p:cNvSpPr/>
          <p:nvPr/>
        </p:nvSpPr>
        <p:spPr>
          <a:xfrm>
            <a:off x="7833208" y="6053328"/>
            <a:ext cx="2468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4:16  </a:t>
            </a:r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품에 품고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이사야 46:4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4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너희가 노년에 이르기까지 내가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그리하겠고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백발이 되기까지 내가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너희를 품을 것이라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지었은즉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내가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업을 것이요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품고 구하여 내리라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마태복음 1:5–6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5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살몬은 라합에게서 보아스를 낳고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보아스는 룻에게서 오벳을 낳고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오벳은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이새를 낳고</a:t>
            </a:r>
            <a:endParaRPr lang="en-US" sz="24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6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이새는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다윗 왕을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낳으니라 다윗은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우리야의 아내에게서 솔로몬을 낳고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마태복음 1:16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야곱은 마리아의 남편 요셉을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낳았으니 마리아에게서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그리스도라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칭하는 예수가 나시니라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로마서 14:8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8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우리가 살아도 주를 위하여 살고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죽어도 주를 위하여 죽나니 그러므로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사나 죽으나 우리가 주의 것이로다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★ 명언 · 대지 3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사람의 제일 되는 목적은,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하나님을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영화롭게 하고,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그분을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영원토록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즐거워하는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것입니다.</a:t>
            </a:r>
            <a:endParaRPr lang="en-US" sz="40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Man’s chief end is to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glorify God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to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enjoy Him forever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웨스트민스터 소요리문답 제1문 (1647)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히브리서 11:13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13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 사람들은 다 믿음을 따라 죽었으며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약속을 받지 못하였으되 그것들을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멀리서 보고 환영하며 또 땅에서는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외국인과 나그네임을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증언하였으니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히브리서 11:16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16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그들이 이제는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더 나은 본향을 사모하니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곧 하늘에 있는 것이라 그러므로 하나님이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그들의 하나님이라 일컬음 받으심을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부끄러워하지 아니하시고 그들을 위하여 한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성을 예비하셨느니라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요한복음 14:2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내 아버지 집에 거할 곳이 많도다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그렇지 않으면 너희에게 일렀으리라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너희를 위하여 거처를 예비하러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가노니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요한복음 14:3</a:t>
            </a:r>
            <a:endParaRPr lang="en-US" sz="2400" dirty="0"/>
          </a:p>
        </p:txBody>
      </p:sp>
      <p:sp>
        <p:nvSpPr>
          <p:cNvPr id="3" name="tag-합독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합독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480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3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가서 너희를 위하여 거처를 예비하면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다시 와서 너희를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내게로 영접하여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 있는 곳에 너희도 있게 하리라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예비 명언 · 대지 1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92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슬픔이 이토록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두려움과 닮았다고는,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아무도 내게 말해 주지 않았다.</a:t>
            </a:r>
            <a:endParaRPr lang="en-US" sz="40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343400"/>
            <a:ext cx="10820095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3891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ever told me that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grief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felt so like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C.S. 루이스 · 『헤아려 본 슬픔』 첫 문장 (1961)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예비 명언 · 대지 1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그리스도인은 하나님을, 너무 지혜로우셔서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실수하지 않으시고,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너무 선하셔서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매정하지 않으신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분으로 믿습니다.</a:t>
            </a:r>
            <a:endParaRPr lang="en-US" sz="40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believes Him to be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wise to err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good to be unkind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찰스 스펄전 · 설교 「행복한 그리스도인」 (1867)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예비 명언 · 대지 1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92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아무리 깊은 구덩이라도, 주님은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그보다 더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깊이 계셔.</a:t>
            </a:r>
            <a:endParaRPr lang="en-US" sz="40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343400"/>
            <a:ext cx="10820095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3891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pit so deep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that He is not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still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벳시 텐 붐 · 라벤스브뤼크 수용소에서 (1944)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예비 명언 · 대지 2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그 사람이 받을 자격을 보지 말고, 모든 사람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안에 있는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하나님의 형상을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바라보십시오.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우리는 그 형상에 모든 존귀와 사랑을 빚지고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있습니다.</a:t>
            </a:r>
            <a:endParaRPr lang="en-US" sz="38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upon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image of God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all men, to which we owe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honor and love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장 칼뱅 · 『기독교강요』 3권 7장 6절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예비 명언 · 대지 2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890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공동체 안에서 우리가 서로에게 빚진 첫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번째 섬김은,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그의 말을 들어 주는 것입니다.</a:t>
            </a:r>
            <a:endParaRPr lang="en-US" sz="40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307840"/>
            <a:ext cx="10820095" cy="1178560"/>
          </a:xfrm>
          <a:prstGeom prst="roundRect">
            <a:avLst>
              <a:gd name="adj" fmla="val 62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353560"/>
            <a:ext cx="10271455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service that one owes to others in the fellowship consists in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listening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them.</a:t>
            </a:r>
            <a:endParaRPr lang="en-US" sz="25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디트리히 본회퍼 · 『신도의 공동생활』 (1939)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예비 명언 · 대지 3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890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살아서나 죽어서나 나의 유일한 위로는,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내가 나의 것이 아니요,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몸도 영혼도 나의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신실한 구주 예수 그리스도의 것이라는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사실입니다.</a:t>
            </a:r>
            <a:endParaRPr lang="en-US" sz="40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307840"/>
            <a:ext cx="10820095" cy="1178560"/>
          </a:xfrm>
          <a:prstGeom prst="roundRect">
            <a:avLst>
              <a:gd name="adj" fmla="val 62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353560"/>
            <a:ext cx="10271455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comfort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life and in death? That I am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my own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but belong to my faithful Savior Jesus Christ.</a:t>
            </a:r>
            <a:endParaRPr lang="en-US" sz="25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하이델베르크 요리문답 제1문 (1563)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예비 명언 · 대지 3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어떤 섭리는, 히브리어 글자처럼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거꾸로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읽어야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합니다.</a:t>
            </a:r>
            <a:endParaRPr lang="en-US" sz="40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providences, like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Hebrew letters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must be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backward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존 플라벨 · 영국 청교도 목사 (1628–1691)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예비 명언 · 대지 3</a:t>
            </a:r>
            <a:endParaRPr lang="en-US" sz="2400" dirty="0"/>
          </a:p>
        </p:txBody>
      </p:sp>
      <p:sp>
        <p:nvSpPr>
          <p:cNvPr id="3" name="tag-명언"/>
          <p:cNvSpPr/>
          <p:nvPr/>
        </p:nvSpPr>
        <p:spPr>
          <a:xfrm>
            <a:off x="10180015" y="493776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명언</a:t>
            </a:r>
            <a:endParaRPr lang="en-US" sz="1600" dirty="0"/>
          </a:p>
        </p:txBody>
      </p:sp>
      <p:sp>
        <p:nvSpPr>
          <p:cNvPr id="4" name="quote-ko"/>
          <p:cNvSpPr txBox="1"/>
          <p:nvPr/>
        </p:nvSpPr>
        <p:spPr>
          <a:xfrm>
            <a:off x="685800" y="1234440"/>
            <a:ext cx="10820095" cy="2890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주님은 우리를 주님을 향하도록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지으셨으니, 우리 마음은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주님 안에서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쉬기까지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쉼이 없습니다.</a:t>
            </a:r>
            <a:endParaRPr lang="en-US" sz="4000" dirty="0"/>
          </a:p>
        </p:txBody>
      </p:sp>
      <p:sp>
        <p:nvSpPr>
          <p:cNvPr id="5" name="quote-en-card"/>
          <p:cNvSpPr/>
          <p:nvPr/>
        </p:nvSpPr>
        <p:spPr>
          <a:xfrm>
            <a:off x="685800" y="4307840"/>
            <a:ext cx="10820095" cy="1178560"/>
          </a:xfrm>
          <a:prstGeom prst="roundRect">
            <a:avLst>
              <a:gd name="adj" fmla="val 62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quote-en"/>
          <p:cNvSpPr txBox="1"/>
          <p:nvPr/>
        </p:nvSpPr>
        <p:spPr>
          <a:xfrm>
            <a:off x="960120" y="4353560"/>
            <a:ext cx="10271455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Inquietum est cor nostrum, donec requiescat in te.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heart is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restless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until it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rests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You.</a:t>
            </a:r>
            <a:endParaRPr lang="en-US" sz="2500" dirty="0"/>
          </a:p>
        </p:txBody>
      </p:sp>
      <p:sp>
        <p:nvSpPr>
          <p:cNvPr id="7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아우구스티누스 · 『고백록』 1권 1장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rley Night">
  <a:themeElements>
    <a:clrScheme name="Barley Night">
      <a:dk1>
        <a:srgbClr val="1E1A16"/>
      </a:dk1>
      <a:lt1>
        <a:srgbClr val="F4EDE1"/>
      </a:lt1>
      <a:dk2>
        <a:srgbClr val="2B251F"/>
      </a:dk2>
      <a:lt2>
        <a:srgbClr val="A89C8A"/>
      </a:lt2>
      <a:accent1>
        <a:srgbClr val="E2B65A"/>
      </a:accent1>
      <a:accent2>
        <a:srgbClr val="7A6646"/>
      </a:accent2>
      <a:accent3>
        <a:srgbClr val="C9773F"/>
      </a:accent3>
      <a:accent4>
        <a:srgbClr val="8FA88E"/>
      </a:accent4>
      <a:accent5>
        <a:srgbClr val="6F8CA8"/>
      </a:accent5>
      <a:accent6>
        <a:srgbClr val="B5838D"/>
      </a:accent6>
      <a:hlink>
        <a:srgbClr val="E2B65A"/>
      </a:hlink>
      <a:folHlink>
        <a:srgbClr val="A89C8A"/>
      </a:folHlink>
    </a:clrScheme>
    <a:fontScheme name="Barley Nigh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빈손 같은 인생, 채우시는 하나님 — 합독</dc:title>
  <dc:subject>PptxGenJS Presentation</dc:subject>
  <dc:creator>설교 성경연구 부서</dc:creator>
  <cp:lastModifiedBy>설교 성경연구 부서</cp:lastModifiedBy>
  <cp:revision>1</cp:revision>
  <dcterms:created xsi:type="dcterms:W3CDTF">2026-10-17T22:05:06Z</dcterms:created>
  <dcterms:modified xsi:type="dcterms:W3CDTF">2026-10-17T22:05:06Z</dcterms:modified>
</cp:coreProperties>
</file>